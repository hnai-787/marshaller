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68" r:id="rId3"/>
    <p:sldId id="269" r:id="rId4"/>
    <p:sldId id="271" r:id="rId5"/>
    <p:sldId id="270" r:id="rId6"/>
    <p:sldId id="272" r:id="rId7"/>
    <p:sldId id="273" r:id="rId8"/>
    <p:sldId id="274" r:id="rId9"/>
    <p:sldId id="275" r:id="rId10"/>
    <p:sldId id="279" r:id="rId11"/>
    <p:sldId id="277" r:id="rId12"/>
    <p:sldId id="278" r:id="rId13"/>
    <p:sldId id="276" r:id="rId14"/>
    <p:sldId id="280" r:id="rId15"/>
    <p:sldId id="281" r:id="rId16"/>
    <p:sldId id="282" r:id="rId17"/>
    <p:sldId id="284" r:id="rId18"/>
    <p:sldId id="285" r:id="rId19"/>
    <p:sldId id="265" r:id="rId20"/>
  </p:sldIdLst>
  <p:sldSz cx="18288000" cy="10287000"/>
  <p:notesSz cx="6858000" cy="9144000"/>
  <p:embeddedFontLst>
    <p:embeddedFont>
      <p:font typeface="Anton" pitchFamily="2" charset="0"/>
      <p:regular r:id="rId22"/>
    </p:embeddedFont>
    <p:embeddedFont>
      <p:font typeface="Open Sans" pitchFamily="2" charset="0"/>
      <p:regular r:id="rId23"/>
      <p:bold r:id="rId24"/>
    </p:embeddedFont>
    <p:embeddedFont>
      <p:font typeface="Space Mono" panose="020B0604020202020204" charset="0"/>
      <p:regular r:id="rId25"/>
      <p:bold r:id="rId26"/>
      <p:italic r:id="rId27"/>
      <p:boldItalic r:id="rId28"/>
    </p:embeddedFont>
    <p:embeddedFont>
      <p:font typeface="Squada One" panose="020B0604020202020204" charset="0"/>
      <p:regular r:id="rId29"/>
    </p:embeddedFont>
    <p:embeddedFont>
      <p:font typeface="Varela Round" panose="00000500000000000000" pitchFamily="2" charset="-79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FF"/>
    <a:srgbClr val="06172C"/>
    <a:srgbClr val="385D8A"/>
    <a:srgbClr val="0D2D53"/>
    <a:srgbClr val="051022"/>
    <a:srgbClr val="0C2C53"/>
    <a:srgbClr val="530C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4622" autoAdjust="0"/>
  </p:normalViewPr>
  <p:slideViewPr>
    <p:cSldViewPr>
      <p:cViewPr varScale="1">
        <p:scale>
          <a:sx n="52" d="100"/>
          <a:sy n="52" d="100"/>
        </p:scale>
        <p:origin x="835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48E4C-F01D-4808-8E3E-B3974377962F}" type="datetimeFigureOut">
              <a:rPr lang="en-PK" smtClean="0"/>
              <a:t>27/05/2026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0D43A-8030-405F-8B5C-70095DEA81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849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0121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3619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4658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2211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9548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614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0311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3571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3412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77916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6988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9676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6871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0456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7133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92865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22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.org.pk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en.wikipedia.org/wiki/PAF_Base_Minha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3169" y="1775326"/>
            <a:ext cx="9718133" cy="420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13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AVIONICS BASE NETWORK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713169" y="7077566"/>
            <a:ext cx="8747026" cy="1077384"/>
          </a:xfrm>
          <a:custGeom>
            <a:avLst/>
            <a:gdLst/>
            <a:ahLst/>
            <a:cxnLst/>
            <a:rect l="l" t="t" r="r" b="b"/>
            <a:pathLst>
              <a:path w="2303743" h="283756">
                <a:moveTo>
                  <a:pt x="88509" y="0"/>
                </a:moveTo>
                <a:lnTo>
                  <a:pt x="2215234" y="0"/>
                </a:lnTo>
                <a:cubicBezTo>
                  <a:pt x="2238709" y="0"/>
                  <a:pt x="2261221" y="9325"/>
                  <a:pt x="2277820" y="25924"/>
                </a:cubicBezTo>
                <a:cubicBezTo>
                  <a:pt x="2294418" y="42522"/>
                  <a:pt x="2303743" y="65035"/>
                  <a:pt x="2303743" y="88509"/>
                </a:cubicBezTo>
                <a:lnTo>
                  <a:pt x="2303743" y="195246"/>
                </a:lnTo>
                <a:cubicBezTo>
                  <a:pt x="2303743" y="218720"/>
                  <a:pt x="2294418" y="241233"/>
                  <a:pt x="2277820" y="257832"/>
                </a:cubicBezTo>
                <a:cubicBezTo>
                  <a:pt x="2261221" y="274431"/>
                  <a:pt x="2238709" y="283756"/>
                  <a:pt x="2215234" y="283756"/>
                </a:cubicBezTo>
                <a:lnTo>
                  <a:pt x="88509" y="283756"/>
                </a:lnTo>
                <a:cubicBezTo>
                  <a:pt x="65035" y="283756"/>
                  <a:pt x="42522" y="274431"/>
                  <a:pt x="25924" y="257832"/>
                </a:cubicBezTo>
                <a:cubicBezTo>
                  <a:pt x="9325" y="241233"/>
                  <a:pt x="0" y="218720"/>
                  <a:pt x="0" y="195246"/>
                </a:cubicBezTo>
                <a:lnTo>
                  <a:pt x="0" y="88509"/>
                </a:lnTo>
                <a:cubicBezTo>
                  <a:pt x="0" y="65035"/>
                  <a:pt x="9325" y="42522"/>
                  <a:pt x="25924" y="25924"/>
                </a:cubicBezTo>
                <a:cubicBezTo>
                  <a:pt x="42522" y="9325"/>
                  <a:pt x="65035" y="0"/>
                  <a:pt x="88509" y="0"/>
                </a:cubicBezTo>
                <a:close/>
              </a:path>
            </a:pathLst>
          </a:custGeom>
          <a:solidFill>
            <a:srgbClr val="06172C"/>
          </a:solidFill>
        </p:spPr>
      </p:sp>
      <p:sp>
        <p:nvSpPr>
          <p:cNvPr id="13" name="Freeform 13"/>
          <p:cNvSpPr/>
          <p:nvPr/>
        </p:nvSpPr>
        <p:spPr>
          <a:xfrm>
            <a:off x="8731129" y="7246847"/>
            <a:ext cx="1490161" cy="738822"/>
          </a:xfrm>
          <a:custGeom>
            <a:avLst/>
            <a:gdLst/>
            <a:ahLst/>
            <a:cxnLst/>
            <a:rect l="l" t="t" r="r" b="b"/>
            <a:pathLst>
              <a:path w="392470" h="194587">
                <a:moveTo>
                  <a:pt x="97293" y="0"/>
                </a:moveTo>
                <a:lnTo>
                  <a:pt x="295177" y="0"/>
                </a:lnTo>
                <a:cubicBezTo>
                  <a:pt x="348911" y="0"/>
                  <a:pt x="392470" y="43560"/>
                  <a:pt x="392470" y="97293"/>
                </a:cubicBezTo>
                <a:lnTo>
                  <a:pt x="392470" y="97293"/>
                </a:lnTo>
                <a:cubicBezTo>
                  <a:pt x="392470" y="151027"/>
                  <a:pt x="348911" y="194587"/>
                  <a:pt x="295177" y="194587"/>
                </a:cubicBezTo>
                <a:lnTo>
                  <a:pt x="97293" y="194587"/>
                </a:lnTo>
                <a:cubicBezTo>
                  <a:pt x="43560" y="194587"/>
                  <a:pt x="0" y="151027"/>
                  <a:pt x="0" y="97293"/>
                </a:cubicBezTo>
                <a:lnTo>
                  <a:pt x="0" y="97293"/>
                </a:lnTo>
                <a:cubicBezTo>
                  <a:pt x="0" y="43560"/>
                  <a:pt x="43560" y="0"/>
                  <a:pt x="9729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PK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280F578-17FA-4B43-A48A-1D5F383B8246}"/>
              </a:ext>
            </a:extLst>
          </p:cNvPr>
          <p:cNvSpPr/>
          <p:nvPr/>
        </p:nvSpPr>
        <p:spPr>
          <a:xfrm>
            <a:off x="8760495" y="7280804"/>
            <a:ext cx="738000" cy="670909"/>
          </a:xfrm>
          <a:prstGeom prst="ellipse">
            <a:avLst/>
          </a:prstGeom>
          <a:solidFill>
            <a:srgbClr val="0D2D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0" name="TextBox 20"/>
          <p:cNvSpPr txBox="1"/>
          <p:nvPr/>
        </p:nvSpPr>
        <p:spPr>
          <a:xfrm>
            <a:off x="2267780" y="7341375"/>
            <a:ext cx="6021928" cy="54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Inspired By PAC Kamra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400" y="214500"/>
            <a:ext cx="3807992" cy="3024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B2FCEBF-9ABE-4D0C-B857-F60824391A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7392" y="4310185"/>
            <a:ext cx="6840000" cy="3844765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bevelT prst="angle"/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9 -0.00016 L 0.0368 -0.00016 " pathEditMode="fixed" rAng="0" ptsTypes="AA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5D8A"/>
                                      </p:to>
                                    </p:animClr>
                                    <p:set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45" grpId="0" animBg="1"/>
      <p:bldP spid="45" grpId="1" animBg="1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Project Details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774695"/>
            <a:ext cx="10475330" cy="427418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fi-FI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Course: 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Computer Networks Lab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fi-FI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Code: 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CS260L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fi-FI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Instructor: 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Mohsin Sarfraz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fi-FI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Date: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15</a:t>
            </a:r>
            <a:r>
              <a:rPr lang="fi-FI" sz="3600" baseline="300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th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December, 2024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2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Team Members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775812"/>
            <a:ext cx="10475330" cy="1829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i-FI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Hussain Ali (232095)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i-FI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Ahmad Ali (232147)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Table of Contents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668850"/>
            <a:ext cx="16230600" cy="6278642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Project Introduction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Network Design Objectives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Network Topology Overview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Topology Diagram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IP Allocation Table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VLAN Assignment Scheme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Router Configuration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Switch Configuration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Security Features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Testing and Validation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Team Contributions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Conclusion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8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Project Introduction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447894"/>
            <a:ext cx="16230600" cy="4274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Simulating the network architecture for a military aviation base.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Based on operational needs of facilities like PAF Base Minhas, Kamra.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Goals: Scalable, secure, robust networking for aviation and military departments.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4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73173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Objectives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775812"/>
            <a:ext cx="16230600" cy="4274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Establish a secure and scalable network.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Ensure inter-departmental communication.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Simulate redundancy for mission-critical systems.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Provide centralized services (DNS, FTP, Mail).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8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Design Overview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838200" y="2475108"/>
            <a:ext cx="16421100" cy="5382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PAC HQ Core Infrastructure: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Firewall, Main Router, Distribution Switch.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Factory Locations: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AMF, APF, ARF, MRF with distinct departmental divisions.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Connectivity: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Point-to-point links between HQ and factories using Serial Communication.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37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Network Topology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D5D59B86-1EC8-4BAA-BDB9-E34AECE2891B}"/>
              </a:ext>
            </a:extLst>
          </p:cNvPr>
          <p:cNvSpPr txBox="1"/>
          <p:nvPr/>
        </p:nvSpPr>
        <p:spPr>
          <a:xfrm>
            <a:off x="1012370" y="2453337"/>
            <a:ext cx="16246929" cy="5382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Hierarchical Network Topology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Connectivity Design: 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- </a:t>
            </a: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Star topology: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Within HQ and factories for departmental connections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- </a:t>
            </a: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Point-to-Point Links: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Efficient interconnectivity between HQ and factories using OSPF.</a:t>
            </a:r>
          </a:p>
        </p:txBody>
      </p:sp>
    </p:spTree>
    <p:extLst>
      <p:ext uri="{BB962C8B-B14F-4D97-AF65-F5344CB8AC3E}">
        <p14:creationId xmlns:p14="http://schemas.microsoft.com/office/powerpoint/2010/main" val="26587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BCBF10-2D74-E032-04A5-640CFCE46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b="4074"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1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IP Allocation Scheme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4263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Class C private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addresses are used for VLANs, with a /24 subnet mask to accommodate up to 254 devices per VLAN.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Class A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private IP addresses are used for point-to-point links, with a /30 subnet mask for efficient use of IP addresses (2 usable IPs per subnet).</a:t>
            </a:r>
            <a:endParaRPr lang="fi-FI" sz="3600" dirty="0">
              <a:solidFill>
                <a:srgbClr val="FFFFFF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Varela Roun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4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VLAN IP Allocation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73FE49-E838-40AC-8CF0-AAE22A8A7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933717"/>
              </p:ext>
            </p:extLst>
          </p:nvPr>
        </p:nvGraphicFramePr>
        <p:xfrm>
          <a:off x="742062" y="2453337"/>
          <a:ext cx="16803877" cy="66602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53077">
                  <a:extLst>
                    <a:ext uri="{9D8B030D-6E8A-4147-A177-3AD203B41FA5}">
                      <a16:colId xmlns:a16="http://schemas.microsoft.com/office/drawing/2014/main" val="3595947928"/>
                    </a:ext>
                  </a:extLst>
                </a:gridCol>
                <a:gridCol w="3213405">
                  <a:extLst>
                    <a:ext uri="{9D8B030D-6E8A-4147-A177-3AD203B41FA5}">
                      <a16:colId xmlns:a16="http://schemas.microsoft.com/office/drawing/2014/main" val="1044084753"/>
                    </a:ext>
                  </a:extLst>
                </a:gridCol>
                <a:gridCol w="3351787">
                  <a:extLst>
                    <a:ext uri="{9D8B030D-6E8A-4147-A177-3AD203B41FA5}">
                      <a16:colId xmlns:a16="http://schemas.microsoft.com/office/drawing/2014/main" val="1435885819"/>
                    </a:ext>
                  </a:extLst>
                </a:gridCol>
                <a:gridCol w="3341008">
                  <a:extLst>
                    <a:ext uri="{9D8B030D-6E8A-4147-A177-3AD203B41FA5}">
                      <a16:colId xmlns:a16="http://schemas.microsoft.com/office/drawing/2014/main" val="2464322413"/>
                    </a:ext>
                  </a:extLst>
                </a:gridCol>
                <a:gridCol w="3344600">
                  <a:extLst>
                    <a:ext uri="{9D8B030D-6E8A-4147-A177-3AD203B41FA5}">
                      <a16:colId xmlns:a16="http://schemas.microsoft.com/office/drawing/2014/main" val="3725668186"/>
                    </a:ext>
                  </a:extLst>
                </a:gridCol>
              </a:tblGrid>
              <a:tr h="20165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Location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Subnet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IP Range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Devices/Subnets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1070160595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HQ - Data Center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192.168.10.1 - 192.168.10.254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DNS, FTP, Web, and Mail Servers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757291155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HQ - Control Center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20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192.168.20.0/24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192.168.20.1 - 192.168.20.254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Control Center Devices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90815750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PAC HQ - SOC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192.168.30.0/24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192.168.30.1 - 192.168.30.254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SOC Devices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4278221916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AMF - Design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40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192.168.40.0/24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192.168.40.1 - 192.168.40.254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588980804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AMF - Prototyping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50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192.168.50.0/24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192.168.50.1 - 192.168.50.254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485385666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AMF - Quality Control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60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192.168.60.0/24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192.168.60.1 - 192.168.60.254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540467378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AMF - Support Services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70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192.168.70.0/24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192.168.70.1 - 192.168.70.254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1857097693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APF - Avionics Design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80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192.168.80.0/24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192.168.80.1 - 192.168.80.254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531893597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APF – Production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90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192.168.90.0/24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192.168.90.1 - 192.168.90.254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424781671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APF - Testing/Calibration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VLAN 100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192.168.100.0/24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192.168.100.1 - 192.168.100.254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332492849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APF - Support Services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110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192.168.110.0/24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192.168.110.1 - 192.168.110.254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799297464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ARF – Overhaul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120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192.168.120.0/24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192.168.120.1 - 192.168.120.254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440345022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ARF – Repair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VLAN 130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192.168.130.0/24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192.168.130.1 - 192.168.130.254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398193120"/>
                  </a:ext>
                </a:extLst>
              </a:tr>
              <a:tr h="4000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ARF – Testing</a:t>
                      </a: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VLAN 140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192.168.140.0/24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192.168.140.1 - 192.168.140.254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1608041346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ARF – Support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VLAN 150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192.168.150.0/24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192.168.150.1 - 192.168.150.254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55193095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MRF – Overhaul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VLAN 160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192.168.160.0/24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192.168.160.1 - 192.168.160.254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1686515635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MRF - Repair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170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192.168.170.0/24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192.168.170.1 - 192.168.170.254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707610996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MRF - Testing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180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192.168.180.0/24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192.168.180.1 - 192.168.180.254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470575846"/>
                  </a:ext>
                </a:extLst>
              </a:tr>
              <a:tr h="3365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MRF - Support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190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192.168.190.0/24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192.168.190.1 - 192.168.190.254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499054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20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P2P IP Allocation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D539D8-1275-48C7-925C-5DCB38825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731827"/>
              </p:ext>
            </p:extLst>
          </p:nvPr>
        </p:nvGraphicFramePr>
        <p:xfrm>
          <a:off x="742062" y="2453337"/>
          <a:ext cx="16803875" cy="6660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60775">
                  <a:extLst>
                    <a:ext uri="{9D8B030D-6E8A-4147-A177-3AD203B41FA5}">
                      <a16:colId xmlns:a16="http://schemas.microsoft.com/office/drawing/2014/main" val="4035872409"/>
                    </a:ext>
                  </a:extLst>
                </a:gridCol>
                <a:gridCol w="3360775">
                  <a:extLst>
                    <a:ext uri="{9D8B030D-6E8A-4147-A177-3AD203B41FA5}">
                      <a16:colId xmlns:a16="http://schemas.microsoft.com/office/drawing/2014/main" val="1804081210"/>
                    </a:ext>
                  </a:extLst>
                </a:gridCol>
                <a:gridCol w="3360775">
                  <a:extLst>
                    <a:ext uri="{9D8B030D-6E8A-4147-A177-3AD203B41FA5}">
                      <a16:colId xmlns:a16="http://schemas.microsoft.com/office/drawing/2014/main" val="4123018220"/>
                    </a:ext>
                  </a:extLst>
                </a:gridCol>
                <a:gridCol w="3360775">
                  <a:extLst>
                    <a:ext uri="{9D8B030D-6E8A-4147-A177-3AD203B41FA5}">
                      <a16:colId xmlns:a16="http://schemas.microsoft.com/office/drawing/2014/main" val="1757190751"/>
                    </a:ext>
                  </a:extLst>
                </a:gridCol>
                <a:gridCol w="3360775">
                  <a:extLst>
                    <a:ext uri="{9D8B030D-6E8A-4147-A177-3AD203B41FA5}">
                      <a16:colId xmlns:a16="http://schemas.microsoft.com/office/drawing/2014/main" val="1410264407"/>
                    </a:ext>
                  </a:extLst>
                </a:gridCol>
              </a:tblGrid>
              <a:tr h="214352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Link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Source IP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Destination IP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Subnet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Devices/Usage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592083296"/>
                  </a:ext>
                </a:extLst>
              </a:tr>
              <a:tr h="41781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ISP -&gt; PAC-FW (Firewall)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203.0.113.x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203.0.113.1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203.0.113.0/30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Internet to Firewall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337855333"/>
                  </a:ext>
                </a:extLst>
              </a:tr>
              <a:tr h="43260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PAC-FW (Firewall) -&gt; PAC-MR (Main Router)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10.0.0.2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10.0.0.0/30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Firewall to Main Router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4128309601"/>
                  </a:ext>
                </a:extLst>
              </a:tr>
              <a:tr h="70015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PAC-MR (Main Router) -&gt; PAC-AMF (Aircraft Manufacturing Factory)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10.0.0.5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10.0.0.6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10.0.0.4/30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Aircraft Manufacturing Factory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461256989"/>
                  </a:ext>
                </a:extLst>
              </a:tr>
              <a:tr h="70015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PAC-MR (Main Router) -&gt; PAC-APF (Avionics Production Factory)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10.0.0.9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10.0.0.8/30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Avionics Production Factory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3083203814"/>
                  </a:ext>
                </a:extLst>
              </a:tr>
              <a:tr h="55898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PAC-MR (Main Router) -&gt; PAC-ARF (Aircraft Rebuild Factory)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10.0.0.13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10.0.0.12/30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Aircraft Rebuild Factory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845923563"/>
                  </a:ext>
                </a:extLst>
              </a:tr>
              <a:tr h="55898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PAC-MR (Main Router) -&gt; PAC-MRF (Mirage Rebuild Factory)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10.0.0.17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10.0.0.18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10.0.0.16/30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Mirage Rebuild Factory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445857189"/>
                  </a:ext>
                </a:extLst>
              </a:tr>
              <a:tr h="55898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Main Router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192.168.1.2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192.168.1.0/30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Distribution Switch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056303278"/>
                  </a:ext>
                </a:extLst>
              </a:tr>
              <a:tr h="70015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Aircraft Manufacturing Factory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192.168.1.5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192.168.1.6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192.168.1.4/30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Aircraft Manufacturing Factory to Distribution Switch connection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905849631"/>
                  </a:ext>
                </a:extLst>
              </a:tr>
              <a:tr h="70015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Avionics Production Factory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192.168.1.9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192.168.1.8/30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Avionics Production Factory to Distribution Switch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4051771514"/>
                  </a:ext>
                </a:extLst>
              </a:tr>
              <a:tr h="55898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Aircraft Rebuild Factory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192.168.1.13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192.168.1.12/30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Aircraft Rebuild Factory to Distribution Switch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3829497402"/>
                  </a:ext>
                </a:extLst>
              </a:tr>
              <a:tr h="55898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Mirage Rebuild Factory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192.168.1.17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192.168.1.18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192.168.1.16/30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Mirage Rebuild Factory to Distribution Switch connection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4119864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80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Times New Roman" panose="02020603050405020304" pitchFamily="18" charset="0"/>
                <a:sym typeface="Squada One"/>
              </a:rPr>
              <a:t>Router’s Configuration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537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Basic Security Configurations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Dynamic Routing using OSPF Protocol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Firewall Integration using ACL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NAT Configuration on Main Router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Default Route to Main Router/ISP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6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L3 Switch Configuration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537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fi-FI" dirty="0">
                <a:sym typeface="Varela Round"/>
              </a:rPr>
              <a:t>Basic Security Configurations</a:t>
            </a:r>
          </a:p>
          <a:p>
            <a:r>
              <a:rPr lang="fi-FI" dirty="0">
                <a:sym typeface="Varela Round"/>
              </a:rPr>
              <a:t>VLAN Configuration</a:t>
            </a:r>
          </a:p>
          <a:p>
            <a:r>
              <a:rPr lang="fi-FI" dirty="0">
                <a:sym typeface="Varela Round"/>
              </a:rPr>
              <a:t>Inter-VLAN Routing</a:t>
            </a:r>
          </a:p>
          <a:p>
            <a:r>
              <a:rPr lang="fi-FI" dirty="0">
                <a:sym typeface="Varela Round"/>
              </a:rPr>
              <a:t>Trunk Ports</a:t>
            </a:r>
          </a:p>
          <a:p>
            <a:r>
              <a:rPr lang="fi-FI" dirty="0">
                <a:sym typeface="Varela Round"/>
              </a:rPr>
              <a:t>Default Route to Main/Factory Router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4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Security Features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51560" y="2775812"/>
            <a:ext cx="16207740" cy="6398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Firewall Policies: </a:t>
            </a:r>
            <a:r>
              <a:rPr lang="en-US"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Restrict access between VLANs and external networks.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Access Control Lists (ACLs): </a:t>
            </a:r>
            <a:r>
              <a:rPr lang="en-US"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Restrict factory to factory communication.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Security Recommendations: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Firewalls, IPS, strong authentication, and encryption.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Regular audits and updates.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sz="3200" dirty="0">
              <a:solidFill>
                <a:srgbClr val="FFFFFF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Varela Roun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0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Testing and Validation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418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Ping Tests: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Verified inter-device connectivity.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Service Verification: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DNS, FTP, Web, and Mail services tested for redundancy and availability.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sz="3200" dirty="0">
              <a:solidFill>
                <a:srgbClr val="FFFFFF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Varela Roun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5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Conclusion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5276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Successfully modeled a secure, scalable network for military aviation needs.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Ensured redundancy, efficient communication, and high availability.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Future improvements: Advanced security and routing techniques</a:t>
            </a: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sz="3200" dirty="0">
              <a:solidFill>
                <a:srgbClr val="FFFFFF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Varela Roun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5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References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5769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Pakistan Aeronautical Complex (PAC) Official Website — </a:t>
            </a:r>
            <a:r>
              <a:rPr lang="en-US" sz="3200" dirty="0">
                <a:solidFill>
                  <a:srgbClr val="D9F2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https://www.pac.org.pk/</a:t>
            </a:r>
            <a:r>
              <a:rPr lang="en-US" sz="3200" dirty="0">
                <a:solidFill>
                  <a:srgbClr val="D9F2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PAF Base Minhas — </a:t>
            </a:r>
            <a:r>
              <a:rPr lang="en-US" sz="3200" dirty="0">
                <a:solidFill>
                  <a:srgbClr val="D9F2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https://en.wikipedia.org/wiki/PAF_Base_Minhas</a:t>
            </a:r>
            <a:r>
              <a:rPr lang="en-US" sz="3200" dirty="0">
                <a:solidFill>
                  <a:srgbClr val="D9F2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Cisco Packet Tracer Documentation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Cisco Networking Academy: Routing and Switching Concepts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Cisco Network Security Guidelines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Computer Networks Lab Course Material, CS260L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7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3993" y="3061717"/>
            <a:ext cx="7039846" cy="46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21312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3379" y="1752326"/>
            <a:ext cx="5827998" cy="6782348"/>
            <a:chOff x="0" y="0"/>
            <a:chExt cx="1534946" cy="1786297"/>
          </a:xfrm>
          <a:solidFill>
            <a:srgbClr val="06172C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534946" cy="1786297"/>
            </a:xfrm>
            <a:custGeom>
              <a:avLst/>
              <a:gdLst/>
              <a:ahLst/>
              <a:cxnLst/>
              <a:rect l="l" t="t" r="r" b="b"/>
              <a:pathLst>
                <a:path w="1534946" h="1786297">
                  <a:moveTo>
                    <a:pt x="112914" y="0"/>
                  </a:moveTo>
                  <a:lnTo>
                    <a:pt x="1422032" y="0"/>
                  </a:lnTo>
                  <a:cubicBezTo>
                    <a:pt x="1484393" y="0"/>
                    <a:pt x="1534946" y="50553"/>
                    <a:pt x="1534946" y="112914"/>
                  </a:cubicBezTo>
                  <a:lnTo>
                    <a:pt x="1534946" y="1673383"/>
                  </a:lnTo>
                  <a:cubicBezTo>
                    <a:pt x="1534946" y="1735744"/>
                    <a:pt x="1484393" y="1786297"/>
                    <a:pt x="1422032" y="1786297"/>
                  </a:cubicBezTo>
                  <a:lnTo>
                    <a:pt x="112914" y="1786297"/>
                  </a:lnTo>
                  <a:cubicBezTo>
                    <a:pt x="82967" y="1786297"/>
                    <a:pt x="54247" y="1774401"/>
                    <a:pt x="33072" y="1753226"/>
                  </a:cubicBezTo>
                  <a:cubicBezTo>
                    <a:pt x="11896" y="1732050"/>
                    <a:pt x="0" y="1703330"/>
                    <a:pt x="0" y="1673383"/>
                  </a:cubicBezTo>
                  <a:lnTo>
                    <a:pt x="0" y="112914"/>
                  </a:lnTo>
                  <a:cubicBezTo>
                    <a:pt x="0" y="50553"/>
                    <a:pt x="50553" y="0"/>
                    <a:pt x="112914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34946" cy="182439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00037" y="2261617"/>
            <a:ext cx="4794683" cy="5763766"/>
            <a:chOff x="0" y="0"/>
            <a:chExt cx="742822" cy="8929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2822" cy="892958"/>
            </a:xfrm>
            <a:custGeom>
              <a:avLst/>
              <a:gdLst/>
              <a:ahLst/>
              <a:cxnLst/>
              <a:rect l="l" t="t" r="r" b="b"/>
              <a:pathLst>
                <a:path w="742822" h="892958">
                  <a:moveTo>
                    <a:pt x="101725" y="0"/>
                  </a:moveTo>
                  <a:lnTo>
                    <a:pt x="641097" y="0"/>
                  </a:lnTo>
                  <a:cubicBezTo>
                    <a:pt x="668076" y="0"/>
                    <a:pt x="693950" y="10717"/>
                    <a:pt x="713027" y="29795"/>
                  </a:cubicBezTo>
                  <a:cubicBezTo>
                    <a:pt x="732104" y="48872"/>
                    <a:pt x="742822" y="74746"/>
                    <a:pt x="742822" y="101725"/>
                  </a:cubicBezTo>
                  <a:lnTo>
                    <a:pt x="742822" y="791233"/>
                  </a:lnTo>
                  <a:cubicBezTo>
                    <a:pt x="742822" y="818212"/>
                    <a:pt x="732104" y="844086"/>
                    <a:pt x="713027" y="863164"/>
                  </a:cubicBezTo>
                  <a:cubicBezTo>
                    <a:pt x="693950" y="882241"/>
                    <a:pt x="668076" y="892958"/>
                    <a:pt x="641097" y="892958"/>
                  </a:cubicBezTo>
                  <a:lnTo>
                    <a:pt x="101725" y="892958"/>
                  </a:lnTo>
                  <a:cubicBezTo>
                    <a:pt x="74746" y="892958"/>
                    <a:pt x="48872" y="882241"/>
                    <a:pt x="29795" y="863164"/>
                  </a:cubicBezTo>
                  <a:cubicBezTo>
                    <a:pt x="10717" y="844086"/>
                    <a:pt x="0" y="818212"/>
                    <a:pt x="0" y="791233"/>
                  </a:cubicBezTo>
                  <a:lnTo>
                    <a:pt x="0" y="101725"/>
                  </a:lnTo>
                  <a:cubicBezTo>
                    <a:pt x="0" y="74746"/>
                    <a:pt x="10717" y="48872"/>
                    <a:pt x="29795" y="29795"/>
                  </a:cubicBezTo>
                  <a:cubicBezTo>
                    <a:pt x="48872" y="10717"/>
                    <a:pt x="74746" y="0"/>
                    <a:pt x="101725" y="0"/>
                  </a:cubicBezTo>
                  <a:close/>
                </a:path>
              </a:pathLst>
            </a:custGeom>
            <a:blipFill>
              <a:blip r:embed="rId2"/>
              <a:stretch>
                <a:fillRect t="-12389" b="-1238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flipH="1">
            <a:off x="15249773" y="1028700"/>
            <a:ext cx="4171454" cy="6234510"/>
          </a:xfrm>
          <a:custGeom>
            <a:avLst/>
            <a:gdLst/>
            <a:ahLst/>
            <a:cxnLst/>
            <a:rect l="l" t="t" r="r" b="b"/>
            <a:pathLst>
              <a:path w="4171454" h="6234510">
                <a:moveTo>
                  <a:pt x="4171454" y="0"/>
                </a:moveTo>
                <a:lnTo>
                  <a:pt x="0" y="0"/>
                </a:lnTo>
                <a:lnTo>
                  <a:pt x="0" y="6234510"/>
                </a:lnTo>
                <a:lnTo>
                  <a:pt x="4171454" y="6234510"/>
                </a:lnTo>
                <a:lnTo>
                  <a:pt x="417145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K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1022</Words>
  <Application>Microsoft Office PowerPoint</Application>
  <PresentationFormat>Custom</PresentationFormat>
  <Paragraphs>257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Anton</vt:lpstr>
      <vt:lpstr>Wingdings</vt:lpstr>
      <vt:lpstr>Open Sans</vt:lpstr>
      <vt:lpstr>Courier New</vt:lpstr>
      <vt:lpstr>Arial</vt:lpstr>
      <vt:lpstr>Calibri</vt:lpstr>
      <vt:lpstr>Squada One</vt:lpstr>
      <vt:lpstr>Varela Round</vt:lpstr>
      <vt:lpstr>Space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Hussain Ali</dc:creator>
  <cp:lastModifiedBy>Hussain Ali</cp:lastModifiedBy>
  <cp:revision>44</cp:revision>
  <dcterms:created xsi:type="dcterms:W3CDTF">2006-08-16T00:00:00Z</dcterms:created>
  <dcterms:modified xsi:type="dcterms:W3CDTF">2026-05-27T02:01:08Z</dcterms:modified>
  <dc:identifier>DAGZqt13rWQ</dc:identifier>
</cp:coreProperties>
</file>